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5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00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35440" y="-1828800"/>
            <a:ext cx="5029200" cy="5029200"/>
          </a:xfrm>
          <a:prstGeom prst="ellipse">
            <a:avLst/>
          </a:prstGeom>
          <a:solidFill>
            <a:srgbClr val="00B8D9">
              <a:alpha val="12000"/>
            </a:srgbClr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4846320"/>
            <a:ext cx="3200400" cy="32004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TEXAS AT ARLINGTON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Statistics &amp; Data Science  •  Deep Learning and Artificial Neural Networks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EdgeAuth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CNN-ViT for On-Device AI-Image Authentication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AI-generated images at the edge — for cameras, access control, and trustworthy media.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365760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Group 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5074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 Dr. Mahmoud Ali Jawad  &amp;  Dr. Mei Yang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STORY:  TRUST AT THE EDGE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4572000"/>
          </a:xfrm>
          <a:prstGeom prst="rect">
            <a:avLst/>
          </a:prstGeom>
          <a:solidFill>
            <a:srgbClr val="061A2E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"Soon, every image you see online could be AI-generated.</a:t>
            </a:r>
            <a:endParaRPr lang="en-US" sz="18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detection that runs everywhere — not just in the cloud."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137160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EdgeAuth promise: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calibrated, on-device pipeline that decides REAL / FAKE / UNCERTAIN — fast enough for a camera firmware, accurate enough for a courtroom.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5669280" cy="1051560"/>
          </a:xfrm>
          <a:prstGeom prst="rect">
            <a:avLst/>
          </a:prstGeom>
          <a:solidFill>
            <a:srgbClr val="061A2E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73152" cy="10515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874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real human is on the other side of the camera before granting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2633472"/>
            <a:ext cx="5669280" cy="1051560"/>
          </a:xfrm>
          <a:prstGeom prst="rect">
            <a:avLst/>
          </a:prstGeom>
          <a:solidFill>
            <a:srgbClr val="061A2E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2633472"/>
            <a:ext cx="73152" cy="10515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7249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INTEGRITY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04495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AI-generated content at capture time — before it spreads.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3803904"/>
            <a:ext cx="5669280" cy="1051560"/>
          </a:xfrm>
          <a:prstGeom prst="rect">
            <a:avLst/>
          </a:prstGeom>
          <a:solidFill>
            <a:srgbClr val="061A2E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0" y="3803904"/>
            <a:ext cx="73152" cy="10515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38953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421538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means raw images never leave the device.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4974336"/>
            <a:ext cx="5669280" cy="1051560"/>
          </a:xfrm>
          <a:prstGeom prst="rect">
            <a:avLst/>
          </a:prstGeom>
          <a:solidFill>
            <a:srgbClr val="061A2E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0" y="4974336"/>
            <a:ext cx="73152" cy="10515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50657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538581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FastPath cascade short-circuits easy cases for low-power deployment.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AI-GENERATED IMAGES IS AN URGENT, MOVING 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now produce images that fool humans roughly 50% of the time.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detectors require uploading raw images — a privacy and bandwidth liability.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authentication needs models small and fast enough to run inside a camera ISP.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published "99% on CIFAKE" results exploit JPEG-quantization tables and don't generalize.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calibrated decision pipeline — not just a single classifier.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783080"/>
            <a:ext cx="40233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0" y="1783080"/>
            <a:ext cx="91440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 in CIFAKE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3200400"/>
            <a:ext cx="40233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3200400"/>
            <a:ext cx="91440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77240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of our ViT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4617720"/>
            <a:ext cx="40233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0" y="4617720"/>
            <a:ext cx="91440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77240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 via LoRA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small, calibrated detector that distinguishes real photographs from diffusion-model outputs and runs efficiently enough for on-device deployment — while remaining honest about its uncertainty.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 at 32×32 (CIFAKE) — upsampled to 192×192 for the ViT.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FFT statistics &amp; high-frequency energy ratio.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augmentations applied at train time: blur, color jitter, flip.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JPEG quantization-table cues (we resize first).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score ∈ [0, 1] for p(fake).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self-confidence value (calibrated).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verdict: REPORT FAKE / SUPPRESS / UNCERTAIN.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decision on a single GPU; deployable to MobileNet-class hardware.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Use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61188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611880" cy="91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Camera-Level Liveness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check that the captured face is a live human not a generated photo on a phone screen.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280160"/>
            <a:ext cx="361188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1280160"/>
            <a:ext cx="3611880" cy="91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Identity Verification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AI-generated headshots before they ever reach a backend system.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280160"/>
            <a:ext cx="361188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38160" y="1280160"/>
            <a:ext cx="361188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Newsroom Authentication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219456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journalists cameras stamp every capture with a REAL/FAKE/UNCERTAIN flag at the moment of shutter release.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361188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3611880" cy="914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178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Capture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8006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Smartphone-side flagging at upload which prevents downstream platform processing of synthetic media.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3886200"/>
            <a:ext cx="361188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43400" y="3886200"/>
            <a:ext cx="3611880" cy="91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262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4178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Integrity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26280" y="48006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Bodycams and CCTV verify their own footage hasn't been replaced with fakes.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3886200"/>
            <a:ext cx="361188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38160" y="3886200"/>
            <a:ext cx="3611880" cy="91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21040" y="41605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210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15400" y="4178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 Doorbell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21040" y="48006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doorbell camera distinguishes a real visitor from a printed or synthetic image-based attack.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CIFAKE  (Bird &amp; Lotfi, 2024)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real CIFAR-10 photographs + 60K Stable Diffusion 1.4 generations, all natively 32×32.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120,000 labeled images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100,000 (50K real / 50K fake)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20,000 (10K real / 10K fake)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resolution: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32×32 RGB JPEG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resolution: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192×192 (upsampled)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Stable Diffusion 1.4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669280"/>
            <a:ext cx="7406640" cy="777240"/>
          </a:xfrm>
          <a:prstGeom prst="rect">
            <a:avLst/>
          </a:prstGeom>
          <a:solidFill>
            <a:srgbClr val="FEF3C7"/>
          </a:solidFill>
          <a:ln w="9525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Same-distribution detector. Cross-generator generalization (SD1.4 → Midjourney/Flux) is an open problem we don't claim to have solved.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0" y="3657600"/>
            <a:ext cx="384048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753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suspicious of 50/50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75320" y="4160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sees a heavy skew toward real photos. A model trained on a balanced split is poorly calibrated for the true prior.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75320" y="5212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Guard Model addresses this by re-thresholding decisions based on confidence — not by retraining.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964D69-E3ED-6E10-33E5-41C913BDD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397" y="914400"/>
            <a:ext cx="5138243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611880" cy="42062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611880" cy="6400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990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RESIZE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→ 192×192 bilinear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 (mean/std)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native-resolution leakage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of 16 → 12×12 token grid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611880" cy="42062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280160"/>
            <a:ext cx="361188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13990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AUGMENT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(σ ∈ [0.1, 1.5])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(0.1, 0.1, 0.1, 0.02)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generalization (Wang 2020)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611880" cy="42062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611880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3990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BATCH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1488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 (192px ViT)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(bf16)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kept in fp32 — no BCE underflow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Drop-last for stable batches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8064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upsample?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32×32 JPEGs carry quantization-table fingerprints that trivially separate CIFAKE classes — and don't generalize. Resizing first removes that shortcut and forces the model to learn </a:t>
            </a:r>
            <a:r>
              <a:rPr lang="en-US" sz="1200" b="1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forensic features.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—  Pixel Statistics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dgefake_deck/charts/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8580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0" y="16916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classes are perfectly balanced 50/50.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pixel histograms overlap heavily — no trivial threshold works.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intensities differ by &lt; 2 grey-levels per channel.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at 32×32: humans cannot reliably tell them apart.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80960" y="48463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Pixel-domain features alone are insufficient — a learned, hierarchical representation is required.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look in the frequency domain (next slide).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2B1DA6-191E-F8D1-D818-642B0CDD2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67730"/>
            <a:ext cx="7680960" cy="1847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Analysis  ★  Where the Signal Lives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1206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outputs concentrate extra energy in mid-frequency bands.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show the classic 1/f spectral decay; fakes don't.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− Real difference panel exposes a clean spectral signature.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92240" y="51206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high-frequency-energy ratio yields AUC = 0.623 on its own.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learned model must clear this floor to justify its complexity.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CNN front-end (early layers excel at frequency analysis).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62E585-86D1-FE33-F682-3F0128EE1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7" y="1188990"/>
            <a:ext cx="11517086" cy="3492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 - ImageNet 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baseline?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features is a historically strong floor (Wang et al. 2020).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minutes on a T4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honest target our hybrid must beat to justify its complexity.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5577840" cy="21945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88.52 %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  ·   AUC = 0.892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baseline.  Our ViT must clear this floor to earn its complexity.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  (n = 2,000 val subset)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48640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0" y="4297680"/>
            <a:ext cx="5486400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3" name="Text 13"/>
          <p:cNvSpPr/>
          <p:nvPr/>
        </p:nvSpPr>
        <p:spPr>
          <a:xfrm>
            <a:off x="6583680" y="4846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features alone classify CIFAKE at 88.52% which confirms the dataset is solvable but not trivially so. Our hybrid model has clear room above this line.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0" y="160020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approach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FastPath answers easy cases; expensive ViT only runs on the hard ones.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where it's good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stages 1-3 give frequency-aware tokens; we drop stage 4 to keep spatial detail.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where it's good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self-attention reasons over 144 tokens which captures long-range artifact patterns.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for parameter efficiency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~3% of weights are trainable and friendlier to small GPUs and edge devices.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for honesty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the ViT itself was right; flags genuine uncertainty.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50" dirty="0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A1E0E4CE-3395-A511-6208-B15479010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24" y="1074420"/>
            <a:ext cx="6858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CNN-ViT  +  LoRA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3840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backbone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ResNet-50, ImageNet V2 weights, stages 1-3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× 12 × 1024  (192px input → /16 stride)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projection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1024 → 768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blocks · 12 heads · 768-d · MLP ratio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Learnable [CLS] token + abs. position embeddings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16,  α = 32  (applied to Q &amp; V projections)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params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M  (≈ 0.76%)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heads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logits  +  self-confidence sigmoid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188720"/>
            <a:ext cx="4297680" cy="5349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8096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 one equation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80960" y="1828800"/>
            <a:ext cx="3931920" cy="868680"/>
          </a:xfrm>
          <a:prstGeom prst="rect">
            <a:avLst/>
          </a:prstGeom>
          <a:solidFill>
            <a:srgbClr val="061A2E"/>
          </a:solidFill>
          <a:ln w="9525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0960" y="1828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W·x  +  (B·A)·x · α/r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80960" y="28346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frozen base weight (no gradient)
</a:t>
            </a:r>
            <a:r>
              <a:rPr lang="en-US" sz="11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rank-r down-projection (16 × in_dim)
</a:t>
            </a:r>
            <a:r>
              <a:rPr lang="en-US" sz="11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rank-r up-projection (out_dim × 16)
</a:t>
            </a:r>
            <a:r>
              <a:rPr lang="en-US" sz="11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α/r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scaling (= 2.0 here)</a:t>
            </a:r>
            <a:endParaRPr lang="en-US" sz="1150" dirty="0"/>
          </a:p>
        </p:txBody>
      </p:sp>
      <p:sp>
        <p:nvSpPr>
          <p:cNvPr id="7" name="Shape 10"/>
          <p:cNvSpPr/>
          <p:nvPr/>
        </p:nvSpPr>
        <p:spPr>
          <a:xfrm>
            <a:off x="7680960" y="4434840"/>
            <a:ext cx="3931920" cy="0"/>
          </a:xfrm>
          <a:prstGeom prst="line">
            <a:avLst/>
          </a:prstGeom>
          <a:noFill/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80960" y="4572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80960" y="49377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capacity at MobileNet training cost, trains in &lt;1 hour on a T4 GPU and converges to 97.42% val accuracy.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  +  DPO Alignment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577840" cy="2613053"/>
          </a:xfrm>
          <a:prstGeom prst="rect">
            <a:avLst/>
          </a:prstGeom>
          <a:solidFill>
            <a:srgbClr val="F1F5F9"/>
          </a:solidFill>
          <a:ln w="9525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7784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5120640" cy="183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the ViT's classification was correct  which is independent of the label itself.
</a:t>
            </a:r>
            <a:endParaRPr lang="en-US" sz="105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(4 features)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 softmax score for fake
• Self-confidence head
• Variance of spatial token features
• Max token-norm across spatial positions
</a:t>
            </a: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 /  SUPPRESS  +  guard confidence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5212080" cy="2613053"/>
          </a:xfrm>
          <a:prstGeom prst="rect">
            <a:avLst/>
          </a:prstGeom>
          <a:solidFill>
            <a:srgbClr val="F1F5F9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212080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188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ALIGNMENT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1965960"/>
            <a:ext cx="4754880" cy="183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DPO?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Preference Optimization which  fine-tunes a policy from chosen/rejected pairs without an explicit reward model.
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construction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Chosen: ViT-correct samples with decisive scores
• Rejected: ViT-wrong samples
</a:t>
            </a: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learns to be more decisive on cases the ViT actually got right, more cautious on the rest.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08A01D-154E-7BA0-9769-0D0919F99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856637"/>
            <a:ext cx="11308080" cy="2953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Procedure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9748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697480" cy="457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Phase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· focal loss + confidence BCE · LoRA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69748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69748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Supervised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 · CE on (correct vs wrong) · 4 scalar feats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9748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DPO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3774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· β = 0.1 · 615 chosen / rejected pairs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280160"/>
            <a:ext cx="269748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52560" y="1280160"/>
            <a:ext cx="2697480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FastPath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23774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· MobileNet at 128px · 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19751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(β=0.9, 0.999)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× 192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10⁻³  (heads &amp; LoRA)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bfloat16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+ 5% warm-up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(γ=2) + 0.2·BCE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CNN-ViT  —  Training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dgefake_deck/charts/vit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6949440" cy="3931920"/>
          </a:xfrm>
          <a:prstGeom prst="rect">
            <a:avLst/>
          </a:prstGeom>
        </p:spPr>
      </p:pic>
      <p:pic>
        <p:nvPicPr>
          <p:cNvPr id="7" name="Image 1" descr="/home/claude/edgefake_deck/charts/vit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66360"/>
            <a:ext cx="694944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epochs  (5 total)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54480"/>
          <a:ext cx="4114800" cy="217627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680960" y="4297680"/>
            <a:ext cx="41148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680960" y="4343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97.42%</a:t>
            </a:r>
            <a:endParaRPr lang="en-US" sz="4000" dirty="0"/>
          </a:p>
        </p:txBody>
      </p:sp>
      <p:sp>
        <p:nvSpPr>
          <p:cNvPr id="12" name="Text 7"/>
          <p:cNvSpPr/>
          <p:nvPr/>
        </p:nvSpPr>
        <p:spPr>
          <a:xfrm>
            <a:off x="768096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  (Epoch 19)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680960" y="5715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+8.90 pts over baseline   ·   AUC = 0.978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680960" y="6126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— train-val gap stays narrow.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  —  Supervised + DPO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dgefake_deck/charts/guard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5852160" cy="3291840"/>
          </a:xfrm>
          <a:prstGeom prst="rect">
            <a:avLst/>
          </a:prstGeom>
        </p:spPr>
      </p:pic>
      <p:pic>
        <p:nvPicPr>
          <p:cNvPr id="7" name="Image 1" descr="/home/claude/edgefake_deck/charts/dpo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0"/>
            <a:ext cx="5852160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1143000"/>
            <a:ext cx="25146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583680" y="1143000"/>
            <a:ext cx="2514600" cy="7315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83680" y="1280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92.10 %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667512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Guard validation acc.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7512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16 — supervised phase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9235440" y="1143000"/>
            <a:ext cx="25146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235440" y="1143000"/>
            <a:ext cx="251460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235440" y="1280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98.00 %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932688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  (DPO-aligned)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32688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20 K-sample validation set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583680" y="3017520"/>
            <a:ext cx="25146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83680" y="3017520"/>
            <a:ext cx="25146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83680" y="3154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100.00 %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667512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REPORT class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675120" y="4297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negatives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235440" y="3017520"/>
            <a:ext cx="25146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9235440" y="3017520"/>
            <a:ext cx="251460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235440" y="3154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3.84 %</a:t>
            </a:r>
            <a:endParaRPr lang="en-US" sz="2800" dirty="0"/>
          </a:p>
        </p:txBody>
      </p:sp>
      <p:sp>
        <p:nvSpPr>
          <p:cNvPr id="26" name="Text 22"/>
          <p:cNvSpPr/>
          <p:nvPr/>
        </p:nvSpPr>
        <p:spPr>
          <a:xfrm>
            <a:off x="932688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326880" y="4297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 metric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583680" y="4892040"/>
            <a:ext cx="5166360" cy="1691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766560" y="4983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at final threshold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766560" y="5349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= 9,560    FP = 401    TN = 10,039    FN = 0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766560" y="5852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trades a tiny precision drop for zero false negatives — exactly the trade-off authentication needs.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&amp;  ROC Curves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dgefake_deck/char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486400" cy="4572000"/>
          </a:xfrm>
          <a:prstGeom prst="rect">
            <a:avLst/>
          </a:prstGeom>
        </p:spPr>
      </p:pic>
      <p:pic>
        <p:nvPicPr>
          <p:cNvPr id="7" name="Image 1" descr="/home/claude/edgefake_deck/char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188720"/>
            <a:ext cx="5486400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these:</a:t>
            </a: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Guard catches every FAKE (zero FN) at the cost of 401 FP — perfect for authentication where missing a fake is far more costly than over-flagging.  </a:t>
            </a:r>
            <a:r>
              <a:rPr lang="en-US" sz="115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0.996</a:t>
            </a: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ViT shows decisive separation across all thresholds.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dgefake_deck/char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68580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summary</a:t>
            </a:r>
            <a:endParaRPr lang="en-US" sz="1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54480"/>
          <a:ext cx="411480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ViT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+7.65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(supervised)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MLP, 25K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(DPO-aligned)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3.84%, FNR 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128px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easy cases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earns its place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crushes the baseline · Guard adds calibration · DPO tunes for FN-free recall · FastPath cuts compute on easy inputs. The whole is genuinely greater than the sum of its parts.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Colab to Camera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FastPath (128px MobileNet) handles the bulk of obvious-real / obvious-fake cases at &lt;5 ms per image.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ViT only fires on ambiguous inputs — typically 20–30% of traffic.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LoRA-only weights mean the deployable diff is ~12 MB instead of the full 110 M parameters.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of the CNN front-end is a planned follow-up; bf16 ViT already fits a Jetson Orin.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inference: raw biometric data never leaves the camera.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latency budget  (T4 GPU)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FastPath  (128px)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418320" y="1737360"/>
            <a:ext cx="2194560" cy="292608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18320" y="1737360"/>
            <a:ext cx="219456" cy="29260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stages 1-3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 only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18320" y="2743200"/>
            <a:ext cx="2194560" cy="292608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418320" y="2743200"/>
            <a:ext cx="592531" cy="29260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1832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(12 blocks · LoRA)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18320" y="3749040"/>
            <a:ext cx="2194560" cy="292608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18320" y="3749040"/>
            <a:ext cx="1207008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183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MLP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 only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418320" y="4754880"/>
            <a:ext cx="2194560" cy="292608"/>
          </a:xfrm>
          <a:prstGeom prst="rect">
            <a:avLst/>
          </a:prstGeom>
          <a:solidFill>
            <a:srgbClr val="F1F5F9"/>
          </a:solidFill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418320" y="4754880"/>
            <a:ext cx="8778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1832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latency  ≈ 28 ms per image  →  &gt; 35 FPS sustained on a single T4. Well within real-time camera-ISP budgets.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2377440" cy="502920"/>
          </a:xfrm>
          <a:prstGeom prst="rtTriangl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3657600" cy="320040"/>
          </a:xfrm>
          <a:prstGeom prst="rtTriangl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&amp; 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5029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86400" cy="5349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486400" cy="5943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edge-AI authentication pipeline — not just a classifier — with calibrated REPORT / SUPPRESS / UNCERTAIN verdicts.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CNN-ViT with LoRA reaches 97.30% val accuracy at ~3% trainable params.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 with DPO alignment reaches 99.03% supervised accuracy and zero false negatives.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FastPath cascade reduces average compute by routing easy cases through a 128px MobileNet.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analysis confirmed our architectural choices.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5486400" cy="53492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4864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Cross-generator evaluation — train on SD1.4, test on Midjourney, Flux, and DALL·E 3 outputs.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of the CNN front-end for sub-2-watt deployment.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Domain-randomization training to defeat re-compression and post-processing attacks.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from the ViT into a fully-edge MobileViT student.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Real-camera firmware integration (Jetson Orin Nano + ISP pipeline).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4572000" cy="4572000"/>
          </a:xfrm>
          <a:prstGeom prst="ellipse">
            <a:avLst/>
          </a:prstGeom>
          <a:solidFill>
            <a:srgbClr val="00B8D9">
              <a:alpha val="10000"/>
            </a:srgbClr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ellipse">
            <a:avLst/>
          </a:prstGeom>
          <a:solidFill>
            <a:srgbClr val="FF6B6B">
              <a:alpha val="8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&amp; 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0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Bird, J., &amp; Lotfi, A. (2024). CIFAKE: Image Classification and Explainable Identification of AI-Generated Synthetic Images. IEEE Access. DOI:10.1109/ACCESS.2024.3356122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S.-Y. et al. (2020). CNN-generated images are surprisingly easy to spot... for now. CVPR.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Frank, J. et al. (2020). Leveraging Frequency Analysis for Deep Fake Image Recognition. ICML.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Hu, E. J. et al. (2022). LoRA: Low-Rank Adaptation of Large Language Models. ICLR.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Rafailov, R. et al. (2023). Direct Preference Optimization: Your Language Model is Secretly a Reward Model. NeurIPS.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Dosovitskiy, A. et al. (2021). An Image is Worth 16×16 Words: Transformers for Image Recognition at Scale. ICLR.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K. et al. (2016). Deep Residual Learning for Image Recognition. CVPR.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Howard, A. et al. (2017). MobileNets: Efficient CNNs for Mobile Vision Applications. arXiv:1704.04861.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University of Texas at Arlington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2475</Words>
  <Application>Microsoft Macintosh PowerPoint</Application>
  <PresentationFormat>Widescreen</PresentationFormat>
  <Paragraphs>405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EdgeAuth — Hybrid CNN-ViT for On-Device AI-Image Authentication</dc:title>
  <dc:subject>PptxGenJS Presentation</dc:subject>
  <dc:creator>EdgeFake Team</dc:creator>
  <cp:lastModifiedBy>Chatterjee, Prithwiraj</cp:lastModifiedBy>
  <cp:revision>7</cp:revision>
  <dcterms:created xsi:type="dcterms:W3CDTF">2026-05-01T18:11:48Z</dcterms:created>
  <dcterms:modified xsi:type="dcterms:W3CDTF">2026-05-07T22:52:55Z</dcterms:modified>
</cp:coreProperties>
</file>